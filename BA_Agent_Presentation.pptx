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– Giới thiệu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Tiêu đề: BA Agent sử dụng Agentic RAG và Wikipedia Knowledge Base</a:t>
            </a:r>
          </a:p>
          <a:p>
            <a:pPr>
              <a:defRPr sz="2000"/>
            </a:pPr>
            <a:r>
              <a:t>• Bối cảnh dự án</a:t>
            </a:r>
          </a:p>
          <a:p>
            <a:pPr>
              <a:defRPr sz="2000"/>
            </a:pPr>
            <a:r>
              <a:t>• Bài toán đặt ra</a:t>
            </a:r>
          </a:p>
          <a:p>
            <a:pPr>
              <a:defRPr sz="2000"/>
            </a:pPr>
            <a:r>
              <a:t>• Mục tiêu giải quyết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– Vấn đề hiện tại (Nỗi đau của BA)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BA phải đọc tài liệu thủ công -&gt; Mất thời gian</a:t>
            </a:r>
          </a:p>
          <a:p>
            <a:pPr>
              <a:defRPr sz="2000"/>
            </a:pPr>
            <a:r>
              <a:t>• Dễ bỏ sót yêu cầu</a:t>
            </a:r>
          </a:p>
          <a:p>
            <a:pPr>
              <a:defRPr sz="2000"/>
            </a:pPr>
            <a:r>
              <a:t>• Khó chuyển đổi kiến thức thô thành User Story chuẩn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– Mục tiêu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Hệ thống có thể làm gì?</a:t>
            </a:r>
          </a:p>
          <a:p>
            <a:pPr>
              <a:defRPr sz="2000"/>
            </a:pPr>
            <a:r>
              <a:t>• Đọc hiểu PDF chuyên ngành</a:t>
            </a:r>
          </a:p>
          <a:p>
            <a:pPr>
              <a:defRPr sz="2000"/>
            </a:pPr>
            <a:r>
              <a:t>• Hỏi làm rõ yêu cầu (Elicitation / Clarification)</a:t>
            </a:r>
          </a:p>
          <a:p>
            <a:pPr>
              <a:defRPr sz="2000"/>
            </a:pPr>
            <a:r>
              <a:t>• Tra cứu Wikipedia động</a:t>
            </a:r>
          </a:p>
          <a:p>
            <a:pPr>
              <a:defRPr sz="2000"/>
            </a:pPr>
            <a:r>
              <a:t>• Sinh User Story &amp; Acceptance Criteria</a:t>
            </a:r>
          </a:p>
          <a:p>
            <a:pPr>
              <a:defRPr sz="2000"/>
            </a:pPr>
            <a:r>
              <a:t>• Xuất CSV tương thích Jira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– Kiến trúc tổng thể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Sơ đồ luồng xử lý:</a:t>
            </a:r>
          </a:p>
          <a:p>
            <a:pPr>
              <a:defRPr sz="2000"/>
            </a:pPr>
            <a:r>
              <a:t>User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BA Agent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Tool Selection (PDF RAG Tool / Wiki RAG Tool)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Reasoning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Structured Output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–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Core: LangGraph ReAct Agent</a:t>
            </a:r>
          </a:p>
          <a:p>
            <a:pPr>
              <a:defRPr sz="2000"/>
            </a:pPr>
            <a:r>
              <a:t>• Quy trình:</a:t>
            </a:r>
          </a:p>
          <a:p>
            <a:pPr>
              <a:defRPr sz="2000"/>
            </a:pPr>
            <a:r>
              <a:t>Question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Reasoning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Tool Calling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Observation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Final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– PDF 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Quy trình chuẩn bị dữ liệu nội bộ: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PDF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Chunking (Section-aware)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Embedding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ChromaDB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Hybrid Search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Re-ranking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– Wikipedia RAG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Không dùng Summary trực tiếp.</a:t>
            </a:r>
          </a:p>
          <a:p>
            <a:pPr>
              <a:defRPr sz="2000"/>
            </a:pPr>
            <a:r>
              <a:t>Quy trình:</a:t>
            </a:r>
          </a:p>
          <a:p>
            <a:pPr>
              <a:defRPr sz="2000"/>
            </a:pPr>
            <a:r>
              <a:t>Wikipedia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Content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Chunk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Embedding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Temporary Vector Store</a:t>
            </a:r>
          </a:p>
          <a:p>
            <a:pPr>
              <a:defRPr sz="2000"/>
            </a:pPr>
            <a:r>
              <a:t> ↓</a:t>
            </a:r>
          </a:p>
          <a:p>
            <a:pPr>
              <a:defRPr sz="2000"/>
            </a:pPr>
            <a:r>
              <a:t>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– Clarification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Cơ chế chống Ảo giác (Hallucination):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Ví dụ Input: Xây dựng hệ thống khách sạn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Agent phản ứng: </a:t>
            </a:r>
          </a:p>
          <a:p>
            <a:pPr>
              <a:defRPr sz="2000"/>
            </a:pPr>
            <a:r>
              <a:t>- Có thanh toán online không?</a:t>
            </a:r>
          </a:p>
          <a:p>
            <a:pPr>
              <a:defRPr sz="2000"/>
            </a:pPr>
            <a:r>
              <a:t>- Có những vai trò (Actor) nào?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– Demo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[Chèn Hình Ảnh / Video Demo tại đây]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Tool Calling</a:t>
            </a:r>
          </a:p>
          <a:p>
            <a:pPr>
              <a:defRPr sz="2000"/>
            </a:pPr>
            <a:r>
              <a:t>• Clarification</a:t>
            </a:r>
          </a:p>
          <a:p>
            <a:pPr>
              <a:defRPr sz="2000"/>
            </a:pPr>
            <a:r>
              <a:t>• User Story JSON/Markdown</a:t>
            </a:r>
          </a:p>
          <a:p>
            <a:pPr>
              <a:defRPr sz="2000"/>
            </a:pPr>
            <a:r>
              <a:t>• CSV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– Đánh giá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Bảng kết quả Test:</a:t>
            </a:r>
          </a:p>
          <a:p>
            <a:pPr>
              <a:defRPr sz="2000"/>
            </a:pPr>
            <a:r>
              <a:t>• PDF QA: Pass</a:t>
            </a:r>
          </a:p>
          <a:p>
            <a:pPr>
              <a:defRPr sz="2000"/>
            </a:pPr>
            <a:r>
              <a:t>• Wiki Retrieval: Pass</a:t>
            </a:r>
          </a:p>
          <a:p>
            <a:pPr>
              <a:defRPr sz="2000"/>
            </a:pPr>
            <a:r>
              <a:t>• Clarification: Pass</a:t>
            </a:r>
          </a:p>
          <a:p>
            <a:pPr>
              <a:defRPr sz="2000"/>
            </a:pPr>
            <a:r>
              <a:t>• User Story: Pass</a:t>
            </a:r>
          </a:p>
          <a:p>
            <a:pPr>
              <a:defRPr sz="2000"/>
            </a:pPr>
            <a:r>
              <a:t>• CSV Export: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– Hạn chế (Limitations)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Chưa tích hợp Jira API</a:t>
            </a:r>
          </a:p>
          <a:p>
            <a:pPr>
              <a:defRPr sz="2000"/>
            </a:pPr>
            <a:r>
              <a:t>• Chưa có Traceability 1-1 (User Story map trực tiếp về trang PDF gốc)</a:t>
            </a:r>
          </a:p>
          <a:p>
            <a:pPr>
              <a:defRPr sz="2000"/>
            </a:pPr>
            <a:r>
              <a:t>• Chưa có RAGAS Evaluation liên tục trên pipeline tự động</a:t>
            </a:r>
          </a:p>
          <a:p>
            <a:pPr>
              <a:defRPr sz="2000"/>
            </a:pPr>
            <a:r>
              <a:t>• Chưa có Memory dài hạn (Long-term DB)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– Hướng phát triển (Future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Jira Integration</a:t>
            </a:r>
          </a:p>
          <a:p>
            <a:pPr>
              <a:defRPr sz="2000"/>
            </a:pPr>
            <a:r>
              <a:t>• Confluence Integration</a:t>
            </a:r>
          </a:p>
          <a:p>
            <a:pPr>
              <a:defRPr sz="2000"/>
            </a:pPr>
            <a:r>
              <a:t>• Traceability Mapping</a:t>
            </a:r>
          </a:p>
          <a:p>
            <a:pPr>
              <a:defRPr sz="2000"/>
            </a:pPr>
            <a:r>
              <a:t>• Evaluation Framework</a:t>
            </a:r>
          </a:p>
          <a:p>
            <a:pPr>
              <a:defRPr sz="2000"/>
            </a:pPr>
            <a:r>
              <a:t>• Multi-Agent Collaboration (Thêm Dev Agent, Tester Agent)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